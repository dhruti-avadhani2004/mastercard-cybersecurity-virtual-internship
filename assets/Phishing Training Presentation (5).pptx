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  <p:embeddedFont>
      <p:font typeface="Raleway Thin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Thin-bold.fntdata"/><Relationship Id="rId11" Type="http://schemas.openxmlformats.org/officeDocument/2006/relationships/font" Target="fonts/Raleway-regular.fntdata"/><Relationship Id="rId22" Type="http://schemas.openxmlformats.org/officeDocument/2006/relationships/font" Target="fonts/RalewayThin-boldItalic.fntdata"/><Relationship Id="rId10" Type="http://schemas.openxmlformats.org/officeDocument/2006/relationships/slide" Target="slides/slide4.xml"/><Relationship Id="rId21" Type="http://schemas.openxmlformats.org/officeDocument/2006/relationships/font" Target="fonts/RalewayThin-italic.fntdata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RalewayThin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49bd845a6_2_7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d49bd845a6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49bd845a6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d49bd845a6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49bd845a6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d49bd845a6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49bd845a6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d49bd845a6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" name="Google Shape;64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5" name="Google Shape;65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2" name="Google Shape;72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" name="Google Shape;78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" name="Google Shape;8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" name="Google Shape;87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8" name="Google Shape;88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5" name="Google Shape;9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2" name="Google Shape;102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9" name="Google Shape;109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0" name="Google Shape;120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gif"/><Relationship Id="rId4" Type="http://schemas.openxmlformats.org/officeDocument/2006/relationships/image" Target="../media/image9.gif"/><Relationship Id="rId5" Type="http://schemas.openxmlformats.org/officeDocument/2006/relationships/image" Target="../media/image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10" Type="http://schemas.openxmlformats.org/officeDocument/2006/relationships/image" Target="../media/image13.png"/><Relationship Id="rId9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gif"/><Relationship Id="rId4" Type="http://schemas.openxmlformats.org/officeDocument/2006/relationships/image" Target="../media/image8.gif"/><Relationship Id="rId5" Type="http://schemas.openxmlformats.org/officeDocument/2006/relationships/image" Target="../media/image1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0800" y="1851625"/>
            <a:ext cx="4555050" cy="281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>
            <p:ph type="ctrTitle"/>
          </p:nvPr>
        </p:nvSpPr>
        <p:spPr>
          <a:xfrm>
            <a:off x="864500" y="553650"/>
            <a:ext cx="80322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3198"/>
              <a:buNone/>
            </a:pPr>
            <a:r>
              <a:rPr lang="en" sz="2933">
                <a:solidFill>
                  <a:schemeClr val="lt1"/>
                </a:solidFill>
              </a:rPr>
              <a:t>Familiarize yourself with phishing attacks</a:t>
            </a:r>
            <a:endParaRPr sz="2600">
              <a:solidFill>
                <a:schemeClr val="lt1"/>
              </a:solidFill>
              <a:highlight>
                <a:srgbClr val="FFFF00"/>
              </a:highlight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438150" y="1151550"/>
            <a:ext cx="82677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Avg open rate	Avg click-through rate	Avg phishing success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66%                                28%                            18%</a:t>
            </a: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	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2035250" y="4484413"/>
            <a:ext cx="1671300" cy="4047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64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900" lIns="61900" spcFirstLastPara="1" rIns="61900" wrap="square" tIns="6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7">
                <a:solidFill>
                  <a:srgbClr val="660000"/>
                </a:solidFill>
                <a:latin typeface="Lato"/>
                <a:ea typeface="Lato"/>
                <a:cs typeface="Lato"/>
                <a:sym typeface="Lato"/>
              </a:rPr>
              <a:t>HIGH RISK</a:t>
            </a:r>
            <a:endParaRPr b="1" sz="677">
              <a:solidFill>
                <a:srgbClr val="66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7">
                <a:solidFill>
                  <a:srgbClr val="660000"/>
                </a:solidFill>
                <a:latin typeface="Lato"/>
                <a:ea typeface="Lato"/>
                <a:cs typeface="Lato"/>
                <a:sym typeface="Lato"/>
              </a:rPr>
              <a:t>HR (75%)</a:t>
            </a:r>
            <a:endParaRPr b="1" sz="677">
              <a:solidFill>
                <a:srgbClr val="66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7">
                <a:solidFill>
                  <a:srgbClr val="660000"/>
                </a:solidFill>
                <a:latin typeface="Lato"/>
                <a:ea typeface="Lato"/>
                <a:cs typeface="Lato"/>
                <a:sym typeface="Lato"/>
              </a:rPr>
              <a:t>MARKETING (38%)</a:t>
            </a:r>
            <a:endParaRPr b="1" sz="677">
              <a:solidFill>
                <a:srgbClr val="66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3804175" y="4484437"/>
            <a:ext cx="1671300" cy="4047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645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900" lIns="61900" spcFirstLastPara="1" rIns="61900" wrap="square" tIns="6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7">
                <a:solidFill>
                  <a:srgbClr val="7F6000"/>
                </a:solidFill>
                <a:latin typeface="Lato"/>
                <a:ea typeface="Lato"/>
                <a:cs typeface="Lato"/>
                <a:sym typeface="Lato"/>
              </a:rPr>
              <a:t>MEDIUM</a:t>
            </a:r>
            <a:r>
              <a:rPr b="1" lang="en" sz="677">
                <a:solidFill>
                  <a:srgbClr val="7F6000"/>
                </a:solidFill>
                <a:latin typeface="Lato"/>
                <a:ea typeface="Lato"/>
                <a:cs typeface="Lato"/>
                <a:sym typeface="Lato"/>
              </a:rPr>
              <a:t> RISK</a:t>
            </a:r>
            <a:endParaRPr b="1" sz="677">
              <a:solidFill>
                <a:srgbClr val="7F6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7">
                <a:solidFill>
                  <a:srgbClr val="7F6000"/>
                </a:solidFill>
                <a:latin typeface="Lato"/>
                <a:ea typeface="Lato"/>
                <a:cs typeface="Lato"/>
                <a:sym typeface="Lato"/>
              </a:rPr>
              <a:t>CARD SERVICES (10%)</a:t>
            </a:r>
            <a:endParaRPr b="1" sz="677">
              <a:solidFill>
                <a:srgbClr val="7F6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5573100" y="4484437"/>
            <a:ext cx="1671300" cy="4047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6450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900" lIns="61900" spcFirstLastPara="1" rIns="61900" wrap="square" tIns="6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7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LOW</a:t>
            </a:r>
            <a:r>
              <a:rPr b="1" lang="en" sz="677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 RISK</a:t>
            </a:r>
            <a:endParaRPr b="1" sz="677">
              <a:solidFill>
                <a:srgbClr val="274E1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7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IT (0%), R&amp;D (2%),</a:t>
            </a:r>
            <a:endParaRPr b="1" sz="677">
              <a:solidFill>
                <a:srgbClr val="274E1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77">
                <a:solidFill>
                  <a:srgbClr val="274E13"/>
                </a:solidFill>
                <a:latin typeface="Lato"/>
                <a:ea typeface="Lato"/>
                <a:cs typeface="Lato"/>
                <a:sym typeface="Lato"/>
              </a:rPr>
              <a:t>ENGINEERING (1%), RECEPTION (0%)</a:t>
            </a:r>
            <a:endParaRPr b="1" sz="677">
              <a:solidFill>
                <a:srgbClr val="274E1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2858425" y="3826750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80%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2858425" y="3508300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3384250" y="3773500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100%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3384250" y="3197975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85%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3384250" y="2760475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75</a:t>
            </a: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3935025" y="3285325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3935025" y="3549850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50</a:t>
            </a: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3935025" y="3826750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60</a:t>
            </a: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4472350" y="3920125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40</a:t>
            </a: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4472350" y="3682550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5009675" y="3859000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5009675" y="3536550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5573100" y="3859000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65</a:t>
            </a: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5573100" y="3536550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40</a:t>
            </a: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5561050" y="3343350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38</a:t>
            </a: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6109150" y="3868550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50</a:t>
            </a: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6393250" y="3736550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6118700" y="3643225"/>
            <a:ext cx="381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" sz="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%</a:t>
            </a:r>
            <a:endParaRPr sz="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lt1"/>
                </a:solidFill>
              </a:rPr>
              <a:t>What is phishing?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729450" y="1853850"/>
            <a:ext cx="808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Phishing is a type of cyber attack where an attacker impersonates a trusted person or organization to trick individuals into revealing sensitive information such as passwords, financial details, or personal data.</a:t>
            </a:r>
            <a:endParaRPr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a penguin holding a sign that says gmail on it (Provided by Tenor)"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825" y="2853300"/>
            <a:ext cx="1817075" cy="181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penguin is talking on a cellphone (Provided by Tenor)" id="162" name="Google Shape;16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5700" y="2571750"/>
            <a:ext cx="2153550" cy="215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nguin holding a cell phone with the words please reply written above it (Provided by Tenor)" id="163" name="Google Shape;16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6625" y="2516825"/>
            <a:ext cx="2153550" cy="21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FFFFFF"/>
                </a:solidFill>
              </a:rPr>
              <a:t>Learn to spot phishing emails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9" name="Google Shape;169;p27"/>
          <p:cNvSpPr/>
          <p:nvPr/>
        </p:nvSpPr>
        <p:spPr>
          <a:xfrm>
            <a:off x="3452075" y="2036400"/>
            <a:ext cx="2507700" cy="2468700"/>
          </a:xfrm>
          <a:prstGeom prst="donut">
            <a:avLst>
              <a:gd fmla="val 25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7"/>
          <p:cNvCxnSpPr>
            <a:stCxn id="169" idx="0"/>
            <a:endCxn id="169" idx="4"/>
          </p:cNvCxnSpPr>
          <p:nvPr/>
        </p:nvCxnSpPr>
        <p:spPr>
          <a:xfrm>
            <a:off x="4705925" y="2036400"/>
            <a:ext cx="0" cy="246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7"/>
          <p:cNvCxnSpPr>
            <a:stCxn id="169" idx="2"/>
            <a:endCxn id="169" idx="6"/>
          </p:cNvCxnSpPr>
          <p:nvPr/>
        </p:nvCxnSpPr>
        <p:spPr>
          <a:xfrm>
            <a:off x="3452075" y="3270750"/>
            <a:ext cx="2507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7"/>
          <p:cNvCxnSpPr>
            <a:stCxn id="169" idx="1"/>
            <a:endCxn id="169" idx="5"/>
          </p:cNvCxnSpPr>
          <p:nvPr/>
        </p:nvCxnSpPr>
        <p:spPr>
          <a:xfrm>
            <a:off x="3819319" y="2397933"/>
            <a:ext cx="1773300" cy="17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7"/>
          <p:cNvCxnSpPr>
            <a:stCxn id="169" idx="3"/>
            <a:endCxn id="169" idx="7"/>
          </p:cNvCxnSpPr>
          <p:nvPr/>
        </p:nvCxnSpPr>
        <p:spPr>
          <a:xfrm flipH="1" rot="10800000">
            <a:off x="3819319" y="2397867"/>
            <a:ext cx="1773300" cy="17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4" name="Google Shape;17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175" y="2240600"/>
            <a:ext cx="298505" cy="33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1975" y="2837544"/>
            <a:ext cx="373075" cy="331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9263" y="3493641"/>
            <a:ext cx="298500" cy="2944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2825" y="3969750"/>
            <a:ext cx="403207" cy="37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85950" y="3895352"/>
            <a:ext cx="373075" cy="39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9500" y="3461159"/>
            <a:ext cx="373075" cy="359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76788" y="2725881"/>
            <a:ext cx="298500" cy="354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47075" y="2254650"/>
            <a:ext cx="450818" cy="39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82" name="Google Shape;182;p27"/>
          <p:cNvSpPr txBox="1"/>
          <p:nvPr/>
        </p:nvSpPr>
        <p:spPr>
          <a:xfrm>
            <a:off x="5256025" y="1853850"/>
            <a:ext cx="1137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AUTHORITY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6020750" y="2545150"/>
            <a:ext cx="1137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URGENCY/SCARCITY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5959775" y="3652350"/>
            <a:ext cx="1137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LIKING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5256025" y="4444700"/>
            <a:ext cx="1137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SOCIAL PROOF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3048650" y="4444700"/>
            <a:ext cx="1137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OVERLOAD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1964175" y="3613150"/>
            <a:ext cx="14880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COMMITMENT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2253800" y="2781600"/>
            <a:ext cx="1137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SYMPATHY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3000575" y="1853750"/>
            <a:ext cx="13230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rPr>
              <a:t>FAMILIARITY</a:t>
            </a:r>
            <a:endParaRPr b="1" sz="1300">
              <a:solidFill>
                <a:schemeClr val="accent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6445675" y="1719450"/>
            <a:ext cx="2070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Respecting boss/police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E.g. Fake CEO emails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7121725" y="2545150"/>
            <a:ext cx="2070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Act now, or lose out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E.g. Account Suspension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6778425" y="3562575"/>
            <a:ext cx="2070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Trusting friendly people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E.g. Shared Hobbies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6085225" y="4467350"/>
            <a:ext cx="2070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Following the crowd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E.g. Everyone else did it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843350" y="4444700"/>
            <a:ext cx="2070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Too tired to think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E.g. Late Friday request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68050" y="3562575"/>
            <a:ext cx="2070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Baby steps first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E.g. Confirm email first → Then send money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219825" y="2635500"/>
            <a:ext cx="20703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Helping the distressed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E.g. Stranded traveller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895875" y="1853850"/>
            <a:ext cx="2152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Routine blindness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aleway Thin"/>
                <a:ea typeface="Raleway Thin"/>
                <a:cs typeface="Raleway Thin"/>
                <a:sym typeface="Raleway Thin"/>
              </a:rPr>
              <a:t>E.g. Fake standard invoices</a:t>
            </a:r>
            <a:endParaRPr sz="1300">
              <a:solidFill>
                <a:schemeClr val="lt1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lt1"/>
                </a:solidFill>
              </a:rPr>
              <a:t>How do we stop getting phished?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a blue and white penguin holding a sign that says scam (Provided by Tenor)" id="203" name="Google Shape;20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550" y="2327525"/>
            <a:ext cx="1647375" cy="1647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nguin holds up a sign that says beware of scans (Provided by Tenor)" id="204" name="Google Shape;20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5650" y="2133113"/>
            <a:ext cx="1841800" cy="184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rtoon of a penguin holding a dollar bill and a hand coming out of a cell phone with the words scam alert below it (Provided by Tenor)" id="205" name="Google Shape;20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2250" y="2276300"/>
            <a:ext cx="1749825" cy="174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8"/>
          <p:cNvSpPr txBox="1"/>
          <p:nvPr/>
        </p:nvSpPr>
        <p:spPr>
          <a:xfrm>
            <a:off x="910550" y="4213525"/>
            <a:ext cx="24105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Verify the sender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3434475" y="4254175"/>
            <a:ext cx="24105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Don’t click </a:t>
            </a:r>
            <a:r>
              <a:rPr lang="en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suspicious links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6243375" y="4254175"/>
            <a:ext cx="24105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aleway"/>
              <a:buChar char="●"/>
            </a:pPr>
            <a:r>
              <a:rPr lang="en" sz="13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Think before you act</a:t>
            </a:r>
            <a:endParaRPr sz="13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